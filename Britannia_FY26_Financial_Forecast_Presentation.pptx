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FEB627-DD76-8558-0732-1C57474E419B}" v="253" dt="2026-02-21T13:35:43.0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086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744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116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874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58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586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432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688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25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079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851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317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ea typeface="+mj-lt"/>
                <a:cs typeface="+mj-lt"/>
              </a:rPr>
              <a:t>FY26 Financial Forecast &amp; Scenario Analysis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ea typeface="+mn-lt"/>
                <a:cs typeface="+mn-lt"/>
              </a:rPr>
              <a:t>Britannia Industries</a:t>
            </a:r>
            <a:br>
              <a:rPr lang="en-US" sz="3200" dirty="0">
                <a:ea typeface="+mn-lt"/>
                <a:cs typeface="+mn-lt"/>
              </a:rPr>
            </a:br>
            <a:r>
              <a:rPr lang="en-US" sz="3200" dirty="0">
                <a:ea typeface="+mn-lt"/>
                <a:cs typeface="+mn-lt"/>
              </a:rPr>
              <a:t> FP&amp;A Project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9199-040A-FF57-67A1-BC25B62EF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tx2">
                    <a:lumMod val="90000"/>
                    <a:lumOff val="10000"/>
                  </a:schemeClr>
                </a:solidFill>
                <a:ea typeface="+mj-lt"/>
                <a:cs typeface="+mj-lt"/>
              </a:rPr>
              <a:t>Objective of the Analysis</a:t>
            </a:r>
            <a:endParaRPr lang="en-US" u="sng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C08CB-C952-647C-7DCF-02170A677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Understand historical performance (FY23–FY25)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Identify key business drivers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Build FY26 forecast</a:t>
            </a:r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Assess margin risk under different scenarios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142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17F1E-98C1-4EFC-7DFD-4532743EA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tx2">
                    <a:lumMod val="90000"/>
                    <a:lumOff val="10000"/>
                  </a:schemeClr>
                </a:solidFill>
                <a:ea typeface="+mj-lt"/>
                <a:cs typeface="+mj-lt"/>
              </a:rPr>
              <a:t>Historical Performance Overview</a:t>
            </a:r>
            <a:endParaRPr lang="en-US" u="sng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6C761-8E99-C983-33E2-9C69B8AD9E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Revenue growth accelerated in FY25 (~7%)</a:t>
            </a:r>
            <a:endParaRPr lang="en-US" dirty="0"/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EBITDA margin peaked in FY24 (~19%)</a:t>
            </a:r>
            <a:endParaRPr lang="en-US"/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Margin pressure in FY25 due to higher raw material costs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Raw material cost ~60% of revenue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4" descr="A graph with a line&#10;&#10;AI-generated content may be incorrect.">
            <a:extLst>
              <a:ext uri="{FF2B5EF4-FFF2-40B4-BE49-F238E27FC236}">
                <a16:creationId xmlns:a16="http://schemas.microsoft.com/office/drawing/2014/main" id="{2140D621-96F8-DFAD-9395-92B79A4CB5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84654" y="1819663"/>
            <a:ext cx="6303032" cy="436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738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8CB85-0A23-461C-00BE-4C9762757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u="sng" dirty="0">
                <a:solidFill>
                  <a:schemeClr val="tx2">
                    <a:lumMod val="90000"/>
                    <a:lumOff val="10000"/>
                  </a:schemeClr>
                </a:solidFill>
                <a:ea typeface="+mj-lt"/>
                <a:cs typeface="+mj-lt"/>
              </a:rPr>
              <a:t>Key Financial Drivers Identified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F7222-69A3-C93D-BCE0-969CF258E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b="0" u="sng" dirty="0">
                <a:ea typeface="+mn-lt"/>
                <a:cs typeface="+mn-lt"/>
              </a:rPr>
              <a:t>Revenue Drivers</a:t>
            </a:r>
            <a:endParaRPr lang="en-US" sz="32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3ECBB-EC8D-1418-2334-875754383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77603"/>
            <a:ext cx="5244051" cy="35120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>
                <a:ea typeface="+mn-lt"/>
                <a:cs typeface="+mn-lt"/>
              </a:rPr>
              <a:t>Volume growth</a:t>
            </a:r>
          </a:p>
          <a:p>
            <a:endParaRPr lang="en-US" sz="2600" dirty="0">
              <a:ea typeface="+mn-lt"/>
              <a:cs typeface="+mn-lt"/>
            </a:endParaRPr>
          </a:p>
          <a:p>
            <a:r>
              <a:rPr lang="en-US" sz="2600" dirty="0">
                <a:ea typeface="+mn-lt"/>
                <a:cs typeface="+mn-lt"/>
              </a:rPr>
              <a:t>Pricing power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FA5313-3954-2C93-1A18-19C7E120F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200" b="0" u="sng" dirty="0">
                <a:ea typeface="+mn-lt"/>
                <a:cs typeface="+mn-lt"/>
              </a:rPr>
              <a:t>Cost Drivers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25331C7-38BE-96DE-6231-C428AF339A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0314" y="2677603"/>
            <a:ext cx="5255074" cy="35120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Raw material inflation (primary risk)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Advertising as discretionary lever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Stable employee cost structure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783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335F8-0B3D-13F0-649A-BECEDCD3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tx2">
                    <a:lumMod val="90000"/>
                    <a:lumOff val="10000"/>
                  </a:schemeClr>
                </a:solidFill>
                <a:ea typeface="+mj-lt"/>
                <a:cs typeface="+mj-lt"/>
              </a:rPr>
              <a:t>FY26</a:t>
            </a:r>
            <a:r>
              <a:rPr lang="en-US" u="sng" dirty="0">
                <a:ea typeface="+mj-lt"/>
                <a:cs typeface="+mj-lt"/>
              </a:rPr>
              <a:t> </a:t>
            </a:r>
            <a:r>
              <a:rPr lang="en-US" u="sng" dirty="0">
                <a:solidFill>
                  <a:schemeClr val="tx2">
                    <a:lumMod val="90000"/>
                    <a:lumOff val="10000"/>
                  </a:schemeClr>
                </a:solidFill>
                <a:ea typeface="+mj-lt"/>
                <a:cs typeface="+mj-lt"/>
              </a:rPr>
              <a:t>Base Case Outlook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2E0C-5150-E00A-85C9-E6E0D88D4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Revenue Growth Assumption: 7%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Raw Material %: 59.1%</a:t>
            </a:r>
            <a:endParaRPr lang="en-US">
              <a:ea typeface="+mn-lt"/>
              <a:cs typeface="+mn-lt"/>
            </a:endParaRPr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EBITDA Margin: ~17%</a:t>
            </a:r>
            <a:endParaRPr lang="en-US" dirty="0"/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Margins remain sensitive to commodity price movements.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122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C218D-C9C9-B96D-B069-99F7CD3B0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tx2">
                    <a:lumMod val="90000"/>
                    <a:lumOff val="10000"/>
                  </a:schemeClr>
                </a:solidFill>
                <a:ea typeface="+mj-lt"/>
                <a:cs typeface="+mj-lt"/>
              </a:rPr>
              <a:t>Scenario Analysis – Margin Sensitivity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7CABBCCA-E0CC-CD47-70D4-D98885A6C9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8771049"/>
              </p:ext>
            </p:extLst>
          </p:nvPr>
        </p:nvGraphicFramePr>
        <p:xfrm>
          <a:off x="838200" y="1825625"/>
          <a:ext cx="10854266" cy="3498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7133">
                  <a:extLst>
                    <a:ext uri="{9D8B030D-6E8A-4147-A177-3AD203B41FA5}">
                      <a16:colId xmlns:a16="http://schemas.microsoft.com/office/drawing/2014/main" val="705184710"/>
                    </a:ext>
                  </a:extLst>
                </a:gridCol>
                <a:gridCol w="5427133">
                  <a:extLst>
                    <a:ext uri="{9D8B030D-6E8A-4147-A177-3AD203B41FA5}">
                      <a16:colId xmlns:a16="http://schemas.microsoft.com/office/drawing/2014/main" val="1257576116"/>
                    </a:ext>
                  </a:extLst>
                </a:gridCol>
              </a:tblGrid>
              <a:tr h="874562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EBITDA Margin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100361"/>
                  </a:ext>
                </a:extLst>
              </a:tr>
              <a:tr h="874562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8218768"/>
                  </a:ext>
                </a:extLst>
              </a:tr>
              <a:tr h="874562">
                <a:tc>
                  <a:txBody>
                    <a:bodyPr/>
                    <a:lstStyle/>
                    <a:p>
                      <a:pPr algn="ctr"/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Upside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7834094"/>
                  </a:ext>
                </a:extLst>
              </a:tr>
              <a:tr h="874562">
                <a:tc>
                  <a:txBody>
                    <a:bodyPr/>
                    <a:lstStyle/>
                    <a:p>
                      <a:pPr algn="ctr"/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Downside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919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964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FY26 Financial Forecast &amp; Scenario Analysis </vt:lpstr>
      <vt:lpstr>Objective of the Analysis</vt:lpstr>
      <vt:lpstr>Historical Performance Overview</vt:lpstr>
      <vt:lpstr>Key Financial Drivers Identified</vt:lpstr>
      <vt:lpstr>FY26 Base Case Outlook</vt:lpstr>
      <vt:lpstr>Scenario Analysis – Margin Sensitivity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107</cp:revision>
  <dcterms:created xsi:type="dcterms:W3CDTF">2026-02-21T13:15:41Z</dcterms:created>
  <dcterms:modified xsi:type="dcterms:W3CDTF">2026-02-21T13:36:18Z</dcterms:modified>
</cp:coreProperties>
</file>